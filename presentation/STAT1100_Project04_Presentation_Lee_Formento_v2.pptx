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2F3A827-4B95-4540-A315-369C153581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~1 min]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afternoon. I'm Aedrian, this is Jongmin.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We're presenting Project 04: Predictive Maintenance for Industrial Equipment.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SETUP: You run an airline with 100 jet engines. One is about to fail. Three options: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slide]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REACTIVE — wait for it to break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Emergency repair, cancelled flights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~$50,000 per incident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SCHEDULED — replace parts on a fixed calendar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Safer, but wasteful — discarding good parts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$500K/year for 100-engine fleet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PREDICTIVE — use sensor data to predict when service is needed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Planned repair: ~$5,000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- 10:1 cost difference vs reactive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[point to cost comparison] $50K vs $5K — this gap motivated our project.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"Where do $50K/$5K come from?" → Scenario assumptions, 10:1 cost ratio standard in PdM literature. Dataset has no cost data.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E9B8B98-0E42-4FAF-9814-4DAABC41E06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~1.5 min total for slides 2-4]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NASA CMAPSS dataset, FD001 subset: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- 100 turbofan engines, 21 sensors each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Temperature, pressure, speed — recorded every flight cycle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Every engine runs to failure → exact failure times available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FD001 (not FD002-FD004)?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Single operating condition + single fault mode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Isolates methodology from confounding factors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Well-known benchmark for comparison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ADVANCE TO SENSOR PLOTS (slide 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not FD002-FD004?" → More complexity without methodological clarity. FD001 demonstrates full pipeline cleanly. FD002 is natural next step.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922420-025F-405F-B047-FC4E1A2690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continued]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EDA — Week 5 material: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- 7 out of 21 sensors are completely FLAT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Zero variance, all engines, all cycles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 sensor that never changes = zero degradation info → DROPPED all 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Remaining 14 sensors: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Strong degradation trends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High inter-correlations (physically expected)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Blade wear affects multiple temp/pressure readings simultaneously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ADVANCE TO CLUSTERING (slide 4)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51C08A-81EF-4B10-9489-514E95AB14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continued]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K-MEANS with K=3 — Week 9: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Fully unsupervised, NO labels given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Found 3 groups mapping to: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* Healthy   (avg RUL: 155.6 cycles)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* Degrading (avg RUL: 105.7 cycles)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* Critical  (avg RUL:  21.9 cycles)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cluster plot]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INSIGHT: An unsupervised algorithm independently recovering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health stages = the degradation signal is REAL and learnable.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HAND TO JONGMIN: "I'll hand it to Jongmin for data preparation."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Aedrian steps aside. Jongmin takes center.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7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360055-6FD7-4D6A-BFA8-16DEAA7F79C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~1 min]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"Thanks."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STEP 1: The target variable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Count backwards from failure: RUL = last_cycle - current_cycle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Engine fails at cycle 192 → at cycle 100, RUL = 92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RUL CAPPED AT 130. The reason: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Before ~130 cycles to failure, ALL engines look identical in sensor space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No degradation signal, just noise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Asking model to distinguish RUL 200 from RUL 250 = wasting capacity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Cap focuses learning on DEGRADATION ZONE where predictions are actionable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Standard cap in published CMAPSS research (Heimes 2008)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visualization]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"You can see it here. Raw RUL drops linearly from 191.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Capped version stays flat at 130 until degradation zone kicks in."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130 specifically?" → Sensor deviation detectable ~120-140 cycles before failure. T=130 is standard in literature.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95CFF5-B8AF-412F-8786-4751C5351F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continued from slide 5]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[If audience needs more on RUL visualization, explain:]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- 7,633 / 20,631 rows (37%) clipped to 130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These are the "battery above 20%" rows — engine running fine, exact RUL irrelevant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NOT other approaches?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No cap (raw linear): forces model to distinguish RUL=350 vs 310 when sensors identical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Lower cap (T=80): misses early degradation signal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Exponential decay: more complex, harder to explain, marginal benefit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9E25D8-7686-48A1-9B8A-9D5877BC50A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~1 min]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NORMALIZATION: MinMaxScaler to [0, 1]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Sensors measure different quantities: temp (Rankine), pressure (psia), speed (RPM)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Without scaling → distance-based models (KNN) dominated by largest-range sensor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formula]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Value - min / (max - min)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Every sensor → equal voice in distance calculations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MinMax over StandardScaler?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Bounded [0,1] = intuitive in sensor monitoring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StandardScaler has no bounds → outliers skew KNN distances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CRITICAL DETAIL: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diagram]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fit scaler on TRAINING DATA ONLY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transform test with same parameters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= Data leakage prevention (Week 6)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"MinMax vs Standard?" → KNN uses Euclidean distance. MinMax bounds ensure equal contribution. StandardScaler unbounded.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6BA0B4-D320-47F6-A78E-0231799285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~1 min]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"Raw sensor values at one time step don't tell you direction."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ROLLING STATISTICS over 5-cycle window: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Rolling MEAN → captures trend direction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Rolling STD  → captures instability near failure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slide]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14 sensors x 2 stats = 28 new 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Total: 14 raw + 28 rolling = 42 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5 CYCLES specifically?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Tested 3, 5, and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Window=3: too noisy, not enough smoothing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Window=10: introduces lag, delays failure detection (dangerous!)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Window=5: the balance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5-cycle?" → Tested 3/5/10. 3=noisy, 10=laggy. 5 is the tradeoff.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E187DE-0C33-4245-ACB2-4132B88AF5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~1 min]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SPLIT BY ENGINE, not by row.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GroupShuffleSplit: 80 engines train, 20 engines validation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Test set: 100 entirely new engines from NASA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diagram]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BY ENGINE: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Random row split → cycle 100 &amp; 101 of SAME engine in different sets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They're nearly identical → model memorizes, not generalizes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Group split → forces generalization to UNSEEN engines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No temporal leakage, no data leakage (Week 6)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CHECKPOINT: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42 features, capped RUL labels, clean splits, no leakage.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HAND TO AEDRIAN: "Aedrian will take modeling."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Jongmin steps aside.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Aedrian: "Thanks. Let's see how those 42 features perform."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not time-series CV?" → GroupKFold by engine already prevents temporal leakage. TimeSeriesSplit assumes single continuous series; we have 100 independent engines.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~1.5 min total for slides 10-11]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TASK: Predict exact remaining cycles (continuous number)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BASELINE — Linear Regression (Week 7):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Validation RMSE: ~21 cycles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But degradation isn't linear!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Sensor reads normal for 100 cycles → drops sharply in last 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Linear model misses that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PRIMARY — Random Forest: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- 200 decision trees, each on random subsets, then averaged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Captures non-linear degradation patterns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TUNING: GridSearchCV + GroupKFold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- 5 folds, grouped by engine → no leakage even during tuning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Best: n_estimators=200, max_depth=10, min_samples_leaf=5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ADVANCE TO RESULTS (slide 11)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BC396D-48F1-49DC-946E-00053693DC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continued]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results table]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Random Forest val RMSE: 17.4 — 17% better than Linear Regression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Test: RMSE 18.7, R² = 0.79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Model explains 79% of RUL variance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Small val-to-test gap = NO overfitting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[advance to diagnostics]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Residuals centered at zero, no systematic bias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TRANSITION TO CLASSIFICATION: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"But a maintenance manager doesn't need exact numbers.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They need YES or NO — schedule maintenance now?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That's classification."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not Gradient Boosting/XGBoost?" → RF chosen for interpretability + built-in feature importance. GB might improve RMSE marginally but RF's 17.4 sufficient for cost analysis.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"Is R²=0.79 good?" → Published RF on CMAPSS FD001 typically 0.75-0.85. We're right in range.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3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4A920C9-3425-48D5-BFE3-E886F5CEA73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~1.5 min total for slides 12-13]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BINARY CLASSIFICATION: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Under 30 cycles to failure = "CRITICAL"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Above 30 = "SAFE"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Why 30? = lead time to order parts, schedule crew (industry standard)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CLASSIFIER: KNN — Week 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GridSearchCV: K from 3 to 21 with GroupKFold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Optimal: K = 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High K = strong consensus needed before alarm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= Stable decision boundary for noisy sensor data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COST ASYMMETRY: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confusion matrix]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False Negative (missed failure): $50,000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False Positive (unnecessary maintenance): $5,000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- 10:1 ratio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ADVANCE TO RESULTS (slide 13)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C59F073-8979-4260-8E34-D25E359D61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[AEDRIAN — continued]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F1: 0.89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Recall: 0.86 — catch 86% of real failures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Precision: 0.92 — when we flag, we're right 92% of the time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ROC curve]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AUC: 0.987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remaining 14% missed failures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addressed by alarm threshold optimization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HAND TO JONGMIN: "Jongmin."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Aedrian steps aside.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Jongmin: "Thanks. Two more topics."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K=19?" → High K = stable boundary in noisy data. GridSearchCV selected as optimal F1. Lower K = higher variance.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"Test recall dropped to 0.64?" → Test set has only 1 row/engine (last cycle). Val metrics on full time series = more representative of real-world continuous monitoring.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5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E5BD220-CBE6-47E2-BF6B-747A42932D8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~1.5 min total for slides 14-15]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"Thanks. Before cost analysis — which sensors matter most?"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NO LSTM?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Deep learning = Week 12, conceptual only, not practiced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Rolling stats already capture temporal patterns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GPU not configured in Docker environment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4. Published benchmarks show marginal improvement on FD001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IMPORTANCE METHODS: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slide]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PCA loadings (Week 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Random Forest feature importance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Permutation importance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CONSENSUS — all 3 agree: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Sensor 4 (T24): LPC outlet temperature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Sensor 7 (T50): LPT outlet temperature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Sensor 11 (Ps30): HPC outlet static pressure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Temperature dominating = physically sensible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blade wear affects thermal efficiency first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ADVANCE TO SHAP (slide 15)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1012299-65BF-4178-A2C6-5BD7568193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continued]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[advance to SHAP chart]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SHAP RESULTS: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sensor_4_rmean: mean |SHAP| = 25.51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More than DOUBLE the next feature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Rolling mean features &gt; raw values across ALL methods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Validates our feature engineering decision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RECOMMENDATION: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Prioritize monitoring sensors 4, 7, and 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Consider higher sampling rates + redundant instrumentation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three methods, not one?" → Each has biases (PCA ignores target, RF biased toward high-cardinality, permutation unstable with correlated features). Consensus = robust.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"Why not LSTM?" → Marginal benefit on FD001, not taught in labs, no GPU, cost-benefit doesn't justify.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7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B11A14-C89B-4CC6-B46B-25F295E899D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~1.5 min total for slides 16-17]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BUSINESS CASE: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When predicted RUL &lt; T cycles → trigger maintenance alert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Where to set T?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THRESHOLD SWEEP: T = 10 to 60 cycles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[point to cost curve]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Optimal: T = 10 cycles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SO LOW?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At T=10, model is highly confident failure is imminent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Very few false positives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Higher T → catches marginally more true failures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BUT adds disproportionate FP cost (10:1 asymmetry)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&gt;&gt;&gt; ADVANCE TO MONTE CARLO (slide 17)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"T=10 too close?" → High confidence at T=10 = few FPs. Higher T adds FP cost &gt; savings from catching extra TPs. If cost ratio changes, threshold shifts.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2F42F6-CF4D-4329-8252-1275D011D1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-360" y="76392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612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— continued]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MONTE CARLO — 1,000 simulations: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Sample 100 engines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Add prediction noise (calibrated to RMSE)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Apply threshold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4. Compute cost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5. Repeat 1,000x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[advance to histogram]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RESULTS: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Mean annual cost:    $138,500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Scheduled baseline:  $500,000/year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SAVINGS: $361,500 — 72.3% reduction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Even WORST CASE (95th %ile): $310K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→ Still saves 38% vs scheduled ($190K savings)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- 95% CI: $25K to $310K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Q&amp;A: "How confident in $361K?" → 1,000 iterations, 95% CI $25K-$310K. Even pessimistic end saves real money. Need validation on real data.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19"/>
          </p:nvPr>
        </p:nvSpPr>
        <p:spPr>
          <a:xfrm>
            <a:off x="4399200" y="9555480"/>
            <a:ext cx="3371400" cy="5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F3B996-69CC-41B8-855F-9B3753A6049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880" cy="308376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[JONGMIN → AEDRIAN — ~1 min]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 JONGMIN 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SUMMARY: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Raw sensor data (100 engines)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42 engineered 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Two-stage prediction: RF regression + KNN classification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→ Monte Carlo validates $360K+ annual savings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RECOMMENDATIONS: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1. Deploy predictive model for real-time monitoring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2. Set alarm threshold at 10 cycles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3. Prioritize sensors 4, 7, 11 for redundant instrumentation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LIMITATIONS: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Simulated data — needs validation on real operational data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- Single operating condition — extend to FD002-FD004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--- AEDRIAN ---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"Thank you. We're happy to take questions."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NUMBERS (if needed):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RF RMSE: 17.4 (val) / 18.7 (test), R² = 0.79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KNN F1: 0.89, Recall: 0.86, K=19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Optimal threshold: 10 cycles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Annual savings: $361,500 (72.3%)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25746A-6D31-45B7-AC1B-F9BFB955FA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440" cy="85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7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44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732600"/>
            <a:ext cx="8227080" cy="118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Predictive Maintenance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for Industrial Equipment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914400" y="2149920"/>
            <a:ext cx="7312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e67700"/>
                </a:solidFill>
                <a:effectLst/>
                <a:uFillTx/>
                <a:latin typeface="Calibri"/>
                <a:ea typeface="Calibri"/>
              </a:rPr>
              <a:t>From Sensor Data to Cost-Optimized Maintenance Decisions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-228600" y="0"/>
            <a:ext cx="29703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808080"/>
                </a:solidFill>
                <a:effectLst/>
                <a:uFillTx/>
                <a:latin typeface="Calibri"/>
                <a:ea typeface="Calibri"/>
              </a:rPr>
              <a:t>Jongmin Lee &amp; Aedrian Formento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914400" y="2971800"/>
            <a:ext cx="73126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594360" y="3110040"/>
            <a:ext cx="246636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594360" y="3110040"/>
            <a:ext cx="2466360" cy="34200"/>
          </a:xfrm>
          <a:prstGeom prst="rect">
            <a:avLst/>
          </a:prstGeom>
          <a:solidFill>
            <a:srgbClr val="dc3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31520" y="3219840"/>
            <a:ext cx="21920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  <a:ea typeface="Calibri"/>
              </a:rPr>
              <a:t>Reactive: $50,000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Emergency repair + downtime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3337560" y="3110040"/>
            <a:ext cx="246636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3337560" y="3110040"/>
            <a:ext cx="2466360" cy="34200"/>
          </a:xfrm>
          <a:prstGeom prst="rect">
            <a:avLst/>
          </a:prstGeom>
          <a:solidFill>
            <a:srgbClr val="cc9a0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3474720" y="3219840"/>
            <a:ext cx="21920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c9a06"/>
                </a:solidFill>
                <a:effectLst/>
                <a:uFillTx/>
                <a:latin typeface="Calibri"/>
                <a:ea typeface="Calibri"/>
              </a:rPr>
              <a:t>Scheduled: $500K/yr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Wasteful — replaces healthy parts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6080760" y="3110040"/>
            <a:ext cx="246636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080760" y="3110040"/>
            <a:ext cx="2466360" cy="3420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217920" y="3219840"/>
            <a:ext cx="21920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Predictive: $5,000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Fix only when needed, before failure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7200" y="4800600"/>
            <a:ext cx="3655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6400800" y="480060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57200" y="155520"/>
            <a:ext cx="81356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NASA CMAPSS Dataset &amp; EDA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57200" y="4800600"/>
            <a:ext cx="3655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" name="Text 6"/>
          <p:cNvSpPr/>
          <p:nvPr/>
        </p:nvSpPr>
        <p:spPr>
          <a:xfrm>
            <a:off x="6400800" y="480060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57200" y="1143000"/>
            <a:ext cx="502776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100 turbofan engines </a:t>
            </a:r>
            <a:r>
              <a:rPr lang="en-US" sz="13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run from healthy state to failure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3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21 sensor readings per cycle: </a:t>
            </a: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temperatures, pressures, speeds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3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Engine lifespans: </a:t>
            </a: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128 to 362 cycles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3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Single operating condition: </a:t>
            </a: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FD001 subset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5486400" y="1371600"/>
            <a:ext cx="328932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5486400" y="1371600"/>
            <a:ext cx="52200" cy="82044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5669280" y="1463040"/>
            <a:ext cx="30150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669280" y="1663200"/>
            <a:ext cx="3015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NASA CMAPSS FD001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5669280" y="1938600"/>
            <a:ext cx="30150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5486400" y="2331720"/>
            <a:ext cx="328932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5486400" y="2331720"/>
            <a:ext cx="52200" cy="82044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5669280" y="2423160"/>
            <a:ext cx="30150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TARGET VARIABLE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5669280" y="2652840"/>
            <a:ext cx="3015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Remaining Useful Life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5669280" y="2898720"/>
            <a:ext cx="30150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457200" y="3200400"/>
            <a:ext cx="8227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EDA Key Findings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457200" y="3611880"/>
            <a:ext cx="2557800" cy="68328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" name="Shape 20"/>
          <p:cNvSpPr/>
          <p:nvPr/>
        </p:nvSpPr>
        <p:spPr>
          <a:xfrm>
            <a:off x="457200" y="3611880"/>
            <a:ext cx="43200" cy="683280"/>
          </a:xfrm>
          <a:prstGeom prst="rect">
            <a:avLst/>
          </a:prstGeom>
          <a:solidFill>
            <a:srgbClr val="dc3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594360" y="3703320"/>
            <a:ext cx="2283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7 Constant Sensors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594360" y="3959280"/>
            <a:ext cx="2283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Dropped — zero variance, no info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3246120" y="3611880"/>
            <a:ext cx="2557800" cy="68328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Shape 24"/>
          <p:cNvSpPr/>
          <p:nvPr/>
        </p:nvSpPr>
        <p:spPr>
          <a:xfrm>
            <a:off x="3246120" y="3611880"/>
            <a:ext cx="43200" cy="68328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3383280" y="3703320"/>
            <a:ext cx="2283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High Correlations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3383280" y="3959280"/>
            <a:ext cx="2283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Sensors co-move → PCA justified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6035040" y="3611880"/>
            <a:ext cx="2557800" cy="68328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6035040" y="3611880"/>
            <a:ext cx="43200" cy="68328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6172200" y="3703320"/>
            <a:ext cx="2283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K-Means: 3 Health Stages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6172200" y="3959280"/>
            <a:ext cx="2283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Healthy · Degrading · Critical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457200" y="200160"/>
            <a:ext cx="8227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Dataset Visualizations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4"/>
          <p:cNvSpPr/>
          <p:nvPr/>
        </p:nvSpPr>
        <p:spPr>
          <a:xfrm>
            <a:off x="457200" y="4800600"/>
            <a:ext cx="3655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" name="TextBox 5"/>
          <p:cNvSpPr/>
          <p:nvPr/>
        </p:nvSpPr>
        <p:spPr>
          <a:xfrm>
            <a:off x="6400800" y="480060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2" name="Picture 8" descr="Sensor Behavior Over Time.png"/>
          <p:cNvPicPr/>
          <p:nvPr/>
        </p:nvPicPr>
        <p:blipFill>
          <a:blip r:embed="rId1"/>
          <a:stretch/>
        </p:blipFill>
        <p:spPr>
          <a:xfrm>
            <a:off x="1608120" y="906840"/>
            <a:ext cx="5713560" cy="355932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63" name="TextBox 9"/>
          <p:cNvSpPr/>
          <p:nvPr/>
        </p:nvSpPr>
        <p:spPr>
          <a:xfrm>
            <a:off x="2605320" y="4572720"/>
            <a:ext cx="40226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Engine Unit 1: 6 out of 21 sensors over time. Flat lines = constant sensors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457200" y="200160"/>
            <a:ext cx="82270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EDA Findings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4"/>
          <p:cNvSpPr/>
          <p:nvPr/>
        </p:nvSpPr>
        <p:spPr>
          <a:xfrm>
            <a:off x="457200" y="4800600"/>
            <a:ext cx="3655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" name="TextBox 5"/>
          <p:cNvSpPr/>
          <p:nvPr/>
        </p:nvSpPr>
        <p:spPr>
          <a:xfrm>
            <a:off x="8192880" y="4800600"/>
            <a:ext cx="49140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69" name="Picture 6" descr="Multi-Engine Degradation Patterns.png"/>
          <p:cNvPicPr/>
          <p:nvPr/>
        </p:nvPicPr>
        <p:blipFill>
          <a:blip r:embed="rId1"/>
          <a:stretch/>
        </p:blipFill>
        <p:spPr>
          <a:xfrm>
            <a:off x="319320" y="1151640"/>
            <a:ext cx="3794040" cy="296172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70" name="TextBox 7"/>
          <p:cNvSpPr/>
          <p:nvPr/>
        </p:nvSpPr>
        <p:spPr>
          <a:xfrm>
            <a:off x="319320" y="4401360"/>
            <a:ext cx="4022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Key sensor degradation across 5 engines. Sensors co-degrade approaching failure.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8" descr="K-Means Engine Clustering.png"/>
          <p:cNvPicPr/>
          <p:nvPr/>
        </p:nvPicPr>
        <p:blipFill>
          <a:blip r:embed="rId2"/>
          <a:stretch/>
        </p:blipFill>
        <p:spPr>
          <a:xfrm>
            <a:off x="4343400" y="1143000"/>
            <a:ext cx="4570560" cy="296172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72" name="TextBox 9"/>
          <p:cNvSpPr/>
          <p:nvPr/>
        </p:nvSpPr>
        <p:spPr>
          <a:xfrm>
            <a:off x="4662720" y="4401360"/>
            <a:ext cx="4022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K-Means (K=3) in PCA space. Right panel: actual RUL confirms cluster alignment.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5828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Data Preparation — RUL Label Construction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7"/>
          <p:cNvSpPr/>
          <p:nvPr/>
        </p:nvSpPr>
        <p:spPr>
          <a:xfrm>
            <a:off x="457200" y="100584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Target variable: Remaining Useful Life (RUL) = last_cycle − current_cycle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457200" y="1417320"/>
            <a:ext cx="4843800" cy="14605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8" name="Text 9"/>
          <p:cNvSpPr/>
          <p:nvPr/>
        </p:nvSpPr>
        <p:spPr>
          <a:xfrm>
            <a:off x="640080" y="1600200"/>
            <a:ext cx="45694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Engine 1 — 192 total cycles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640080" y="1691640"/>
            <a:ext cx="4569480" cy="10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onsolas"/>
                <a:ea typeface="Consolas"/>
              </a:rPr>
              <a:t>Cycle   1:  raw RUL = 191 → capped to 130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onsolas"/>
                <a:ea typeface="Consolas"/>
              </a:rPr>
              <a:t>Cycle  62:  raw RUL = 130 → stays 130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onsolas"/>
                <a:ea typeface="Consolas"/>
              </a:rPr>
              <a:t>Cycle 100:  raw RUL =  92 → stays  92  (degradation zone)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onsolas"/>
                <a:ea typeface="Consolas"/>
              </a:rPr>
              <a:t>Cycle 192:  raw RUL =   0 → stays   0  (failure)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5577840" y="1417320"/>
            <a:ext cx="3197880" cy="8672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" name="Shape 12"/>
          <p:cNvSpPr/>
          <p:nvPr/>
        </p:nvSpPr>
        <p:spPr>
          <a:xfrm>
            <a:off x="5577840" y="1417320"/>
            <a:ext cx="52200" cy="86724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5760720" y="150876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WHY CAP AT T=130?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4"/>
          <p:cNvSpPr/>
          <p:nvPr/>
        </p:nvSpPr>
        <p:spPr>
          <a:xfrm>
            <a:off x="5760720" y="1691640"/>
            <a:ext cx="2832120" cy="5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Sensors only change in last ~130 cycles. Before that, all engines look identical. Capping focuses model on degradation zone.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5"/>
          <p:cNvSpPr/>
          <p:nvPr/>
        </p:nvSpPr>
        <p:spPr>
          <a:xfrm>
            <a:off x="457200" y="305352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Alternatives Considered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5" name="Table 0"/>
          <p:cNvGraphicFramePr/>
          <p:nvPr/>
        </p:nvGraphicFramePr>
        <p:xfrm>
          <a:off x="457200" y="3471840"/>
          <a:ext cx="8229240" cy="12211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55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Alternative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Rejected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</a:tr>
              <a:tr h="237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 cap (raw linear)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wastes capacity on indistinguishable healthy states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Lower cap (T=80)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Misses 50 cycles of early degradation signal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376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Exponential decay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More complex, harder to interpret, marginal benefit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457200" y="200160"/>
            <a:ext cx="82270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RUL Capping Visualization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457200" y="4800600"/>
            <a:ext cx="3655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0" name="TextBox 5"/>
          <p:cNvSpPr/>
          <p:nvPr/>
        </p:nvSpPr>
        <p:spPr>
          <a:xfrm>
            <a:off x="8192880" y="4800600"/>
            <a:ext cx="49140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91" name="Picture 6" descr="Visualize Raw vs Capped RUL.png"/>
          <p:cNvPicPr/>
          <p:nvPr/>
        </p:nvPicPr>
        <p:blipFill>
          <a:blip r:embed="rId1"/>
          <a:stretch/>
        </p:blipFill>
        <p:spPr>
          <a:xfrm>
            <a:off x="914400" y="900000"/>
            <a:ext cx="7313040" cy="344196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92" name="TextBox 7"/>
          <p:cNvSpPr/>
          <p:nvPr/>
        </p:nvSpPr>
        <p:spPr>
          <a:xfrm>
            <a:off x="915120" y="4572000"/>
            <a:ext cx="73130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Engine Unit 1: Raw RUL (linear from 191) vs Capped RUL (flat at 130). Eliminates noise-only region.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4"/>
          <p:cNvSpPr/>
          <p:nvPr/>
        </p:nvSpPr>
        <p:spPr>
          <a:xfrm>
            <a:off x="45720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Data Preparation — Normalization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7"/>
          <p:cNvSpPr/>
          <p:nvPr/>
        </p:nvSpPr>
        <p:spPr>
          <a:xfrm>
            <a:off x="457200" y="1143000"/>
            <a:ext cx="484380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8" name="Text 8"/>
          <p:cNvSpPr/>
          <p:nvPr/>
        </p:nvSpPr>
        <p:spPr>
          <a:xfrm>
            <a:off x="640080" y="1189800"/>
            <a:ext cx="36550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MinMaxScaler Formula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640080" y="1417320"/>
            <a:ext cx="438660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212529"/>
                </a:solidFill>
                <a:effectLst/>
                <a:uFillTx/>
                <a:latin typeface="Consolas"/>
                <a:ea typeface="Consolas"/>
              </a:rPr>
              <a:t>scaled = (value - min) / (max - min)  →  [0, 1]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640080" y="1673280"/>
            <a:ext cx="45694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Example: Sensor 2 (641–643 Rankine) → 642 scales to 0.5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5577840" y="114300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5577840" y="1143000"/>
            <a:ext cx="52200" cy="82044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5760720" y="123444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WHY NORMALIZE?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5760720" y="1444680"/>
            <a:ext cx="283212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KNN uses distance. Without normalization, large-range sensors dominate. Every sensor gets equal voice.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457200" y="2194560"/>
            <a:ext cx="8227080" cy="1186200"/>
          </a:xfrm>
          <a:prstGeom prst="rect">
            <a:avLst/>
          </a:prstGeom>
          <a:solidFill>
            <a:srgbClr val="fff3f3"/>
          </a:solidFill>
          <a:ln w="12600">
            <a:solidFill>
              <a:srgbClr val="dc3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6" name="Shape 16"/>
          <p:cNvSpPr/>
          <p:nvPr/>
        </p:nvSpPr>
        <p:spPr>
          <a:xfrm>
            <a:off x="457200" y="2194560"/>
            <a:ext cx="52200" cy="1186200"/>
          </a:xfrm>
          <a:prstGeom prst="rect">
            <a:avLst/>
          </a:prstGeom>
          <a:solidFill>
            <a:srgbClr val="dc3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7" name="Text 17"/>
          <p:cNvSpPr/>
          <p:nvPr/>
        </p:nvSpPr>
        <p:spPr>
          <a:xfrm>
            <a:off x="685800" y="2240280"/>
            <a:ext cx="77698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dc3545"/>
                </a:solidFill>
                <a:effectLst/>
                <a:uFillTx/>
                <a:latin typeface="Calibri"/>
                <a:ea typeface="Calibri"/>
              </a:rPr>
              <a:t>Data Leakage Prevention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8"/>
          <p:cNvSpPr/>
          <p:nvPr/>
        </p:nvSpPr>
        <p:spPr>
          <a:xfrm>
            <a:off x="685800" y="2514600"/>
            <a:ext cx="5026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Fit scaler on training data only, then apply to test data. Using test data to compute min/max = peeking at the answer key.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9"/>
          <p:cNvSpPr/>
          <p:nvPr/>
        </p:nvSpPr>
        <p:spPr>
          <a:xfrm>
            <a:off x="5943600" y="2286000"/>
            <a:ext cx="27406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4361ee"/>
                </a:solidFill>
                <a:effectLst/>
                <a:uFillTx/>
                <a:latin typeface="Consolas"/>
                <a:ea typeface="Consolas"/>
              </a:rPr>
              <a:t>scaler.fit(train)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Learn min/max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20"/>
          <p:cNvSpPr/>
          <p:nvPr/>
        </p:nvSpPr>
        <p:spPr>
          <a:xfrm>
            <a:off x="5943600" y="2606040"/>
            <a:ext cx="27406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4361ee"/>
                </a:solidFill>
                <a:effectLst/>
                <a:uFillTx/>
                <a:latin typeface="Consolas"/>
                <a:ea typeface="Consolas"/>
              </a:rPr>
              <a:t>scaler.transform(train)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Apply to train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1"/>
          <p:cNvSpPr/>
          <p:nvPr/>
        </p:nvSpPr>
        <p:spPr>
          <a:xfrm>
            <a:off x="5943600" y="2926080"/>
            <a:ext cx="274068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198754"/>
                </a:solidFill>
                <a:effectLst/>
                <a:uFillTx/>
                <a:latin typeface="Consolas"/>
                <a:ea typeface="Consolas"/>
              </a:rPr>
              <a:t>scaler.transform(test)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Same params → test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2"/>
          <p:cNvSpPr/>
          <p:nvPr/>
        </p:nvSpPr>
        <p:spPr>
          <a:xfrm>
            <a:off x="457200" y="356616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7 constant sensors dropped: 1, 5, 6, 10, 16, 18, 19 — zero variance, no degradation info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3"/>
          <p:cNvSpPr/>
          <p:nvPr/>
        </p:nvSpPr>
        <p:spPr>
          <a:xfrm>
            <a:off x="457200" y="393192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Why MinMaxScaler over StandardScaler?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4"/>
          <p:cNvSpPr/>
          <p:nvPr/>
        </p:nvSpPr>
        <p:spPr>
          <a:xfrm>
            <a:off x="457200" y="420624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[0, 1] output is intuitive: 0.0 = lowest seen, 1.0 = highest seen. Engineers can read it as "how far from normal."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8"/>
          <p:cNvSpPr/>
          <p:nvPr/>
        </p:nvSpPr>
        <p:spPr>
          <a:xfrm>
            <a:off x="2084760" y="4480560"/>
            <a:ext cx="17258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Zero data leakage verified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45828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Data Preparation — Feature Engineering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457200" y="114300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For each of 14 useful sensors, compute over a 5-cycle sliding window: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458280" y="1692720"/>
            <a:ext cx="383796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458280" y="1692720"/>
            <a:ext cx="43200" cy="77472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641160" y="1784160"/>
            <a:ext cx="34722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Rolling Mean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641160" y="2040120"/>
            <a:ext cx="34722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Average of last 5 readings. Shows the direction of change — a rising mean = degradation.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4573080" y="1692720"/>
            <a:ext cx="383796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4573080" y="1692720"/>
            <a:ext cx="43200" cy="77472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4755960" y="1784160"/>
            <a:ext cx="34722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Rolling Standard Deviation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4755960" y="2040120"/>
            <a:ext cx="347220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Variability of last 5 readings. Rising std = erratic behavior = wear.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458280" y="3201480"/>
            <a:ext cx="8227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14 sensors × 2 stats = 28 new features    →    Total: 14 raw + 28 rolling = 42 features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7"/>
          <p:cNvSpPr/>
          <p:nvPr/>
        </p:nvSpPr>
        <p:spPr>
          <a:xfrm>
            <a:off x="458280" y="315576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458280" y="429876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With only ~17K samples, 420 features → curse of dimensionality. 42 features keeps sample:feature ratio at 400:1.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9"/>
          <p:cNvSpPr/>
          <p:nvPr/>
        </p:nvSpPr>
        <p:spPr>
          <a:xfrm>
            <a:off x="457200" y="4434840"/>
            <a:ext cx="8341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5: EDA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1"/>
          <p:cNvSpPr/>
          <p:nvPr/>
        </p:nvSpPr>
        <p:spPr>
          <a:xfrm>
            <a:off x="1431000" y="4434840"/>
            <a:ext cx="125028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Week 7: Regression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5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45828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Data Preparation — Train / Validation / Test Split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457200" y="105156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GroupShuffleSplit by engine unit — no engine appears in both sets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457200" y="1508760"/>
            <a:ext cx="2466360" cy="109476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0" name="Shape 9"/>
          <p:cNvSpPr/>
          <p:nvPr/>
        </p:nvSpPr>
        <p:spPr>
          <a:xfrm>
            <a:off x="457200" y="1508760"/>
            <a:ext cx="246636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457200" y="1600200"/>
            <a:ext cx="2466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150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TRAINING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457200" y="1810440"/>
            <a:ext cx="2466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80 engines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548640" y="2103120"/>
            <a:ext cx="22834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16,561 rows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Model learns from these engines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3200400" y="1508760"/>
            <a:ext cx="2466360" cy="109476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3200400" y="1508760"/>
            <a:ext cx="2466360" cy="3420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3200400" y="1600200"/>
            <a:ext cx="2466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150" strike="noStrike">
                <a:solidFill>
                  <a:srgbClr val="e67700"/>
                </a:solidFill>
                <a:effectLst/>
                <a:uFillTx/>
                <a:latin typeface="Calibri"/>
                <a:ea typeface="Calibri"/>
              </a:rPr>
              <a:t>VALIDATION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6"/>
          <p:cNvSpPr/>
          <p:nvPr/>
        </p:nvSpPr>
        <p:spPr>
          <a:xfrm>
            <a:off x="3200400" y="1810440"/>
            <a:ext cx="2466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20 engines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7"/>
          <p:cNvSpPr/>
          <p:nvPr/>
        </p:nvSpPr>
        <p:spPr>
          <a:xfrm>
            <a:off x="3291840" y="2103120"/>
            <a:ext cx="22834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4,070 rows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Tune hyperparameters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8"/>
          <p:cNvSpPr/>
          <p:nvPr/>
        </p:nvSpPr>
        <p:spPr>
          <a:xfrm>
            <a:off x="5943600" y="1508760"/>
            <a:ext cx="2466360" cy="109476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0" name="Shape 19"/>
          <p:cNvSpPr/>
          <p:nvPr/>
        </p:nvSpPr>
        <p:spPr>
          <a:xfrm>
            <a:off x="5943600" y="1508760"/>
            <a:ext cx="2466360" cy="3420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1" name="Text 20"/>
          <p:cNvSpPr/>
          <p:nvPr/>
        </p:nvSpPr>
        <p:spPr>
          <a:xfrm>
            <a:off x="5943600" y="1600200"/>
            <a:ext cx="2466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150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TEST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1"/>
          <p:cNvSpPr/>
          <p:nvPr/>
        </p:nvSpPr>
        <p:spPr>
          <a:xfrm>
            <a:off x="5943600" y="1810440"/>
            <a:ext cx="2466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100 (new) engines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2"/>
          <p:cNvSpPr/>
          <p:nvPr/>
        </p:nvSpPr>
        <p:spPr>
          <a:xfrm>
            <a:off x="6035040" y="2103120"/>
            <a:ext cx="2283480" cy="40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100 rows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Final unseen evaluation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3"/>
          <p:cNvSpPr/>
          <p:nvPr/>
        </p:nvSpPr>
        <p:spPr>
          <a:xfrm>
            <a:off x="457200" y="2834640"/>
            <a:ext cx="82270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Why Split by Engine, Not by Row?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4"/>
          <p:cNvSpPr/>
          <p:nvPr/>
        </p:nvSpPr>
        <p:spPr>
          <a:xfrm>
            <a:off x="457200" y="3384360"/>
            <a:ext cx="3837960" cy="1186200"/>
          </a:xfrm>
          <a:prstGeom prst="rect">
            <a:avLst/>
          </a:prstGeom>
          <a:solidFill>
            <a:srgbClr val="fff3f3"/>
          </a:solidFill>
          <a:ln w="6480">
            <a:solidFill>
              <a:srgbClr val="dc354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6" name="Text 25"/>
          <p:cNvSpPr/>
          <p:nvPr/>
        </p:nvSpPr>
        <p:spPr>
          <a:xfrm>
            <a:off x="640080" y="3291840"/>
            <a:ext cx="34732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dc3545"/>
                </a:solidFill>
                <a:effectLst/>
                <a:uFillTx/>
                <a:latin typeface="Calibri"/>
                <a:ea typeface="Calibri"/>
              </a:rPr>
              <a:t>Random Row Split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Cycle 100 of Engine 47 in train, cycle 101 in test.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Nearly identical → model "cheats" by memorizing engines.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dc3545"/>
                </a:solidFill>
                <a:effectLst/>
                <a:uFillTx/>
                <a:latin typeface="Calibri"/>
                <a:ea typeface="Calibri"/>
              </a:rPr>
              <a:t>Temporal leakage — inflated scores.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6"/>
          <p:cNvSpPr/>
          <p:nvPr/>
        </p:nvSpPr>
        <p:spPr>
          <a:xfrm>
            <a:off x="4572000" y="3384360"/>
            <a:ext cx="3837960" cy="1186200"/>
          </a:xfrm>
          <a:prstGeom prst="rect">
            <a:avLst/>
          </a:prstGeom>
          <a:solidFill>
            <a:srgbClr val="f0fff4"/>
          </a:solidFill>
          <a:ln w="6480">
            <a:solidFill>
              <a:srgbClr val="1987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Text 27"/>
          <p:cNvSpPr/>
          <p:nvPr/>
        </p:nvSpPr>
        <p:spPr>
          <a:xfrm>
            <a:off x="4754880" y="3291840"/>
            <a:ext cx="37018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Group Shuffle Split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All cycles of each engine stay together.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Model must generalize to entirely new engines.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Honest evaluation — no leakage.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1"/>
          <p:cNvSpPr/>
          <p:nvPr/>
        </p:nvSpPr>
        <p:spPr>
          <a:xfrm>
            <a:off x="2084760" y="4572000"/>
            <a:ext cx="172584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Zero data leakage verified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2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3" name="Text 4"/>
          <p:cNvSpPr/>
          <p:nvPr/>
        </p:nvSpPr>
        <p:spPr>
          <a:xfrm>
            <a:off x="45720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Model 1 — RUL Regression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457200" y="127908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Predict exactly how many cycles until engine failure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Table 0"/>
          <p:cNvGraphicFramePr/>
          <p:nvPr/>
        </p:nvGraphicFramePr>
        <p:xfrm>
          <a:off x="457200" y="1690560"/>
          <a:ext cx="4754520" cy="96012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914400"/>
                <a:gridCol w="100584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RMSE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R²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Linear Regression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21.00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16.84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Random Forest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9875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17.40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9875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12.41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9875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66" name="Table 1"/>
          <p:cNvGraphicFramePr/>
          <p:nvPr/>
        </p:nvGraphicFramePr>
        <p:xfrm>
          <a:off x="459720" y="2997720"/>
          <a:ext cx="4754520" cy="9306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914400"/>
                <a:gridCol w="1005840"/>
              </a:tblGrid>
              <a:tr h="274320">
                <a:tc gridSpan="4"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 SET (HELD-OUT)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5a7a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RMSE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5a7a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5a7af0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R²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5a7af0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Random Forest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18.72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13.21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7" name="Shape 8"/>
          <p:cNvSpPr/>
          <p:nvPr/>
        </p:nvSpPr>
        <p:spPr>
          <a:xfrm>
            <a:off x="5577840" y="132480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5577840" y="1324800"/>
            <a:ext cx="52200" cy="82044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9" name="Text 10"/>
          <p:cNvSpPr/>
          <p:nvPr/>
        </p:nvSpPr>
        <p:spPr>
          <a:xfrm>
            <a:off x="5760720" y="141624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IMPROVEMENT OVER BASELINE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1"/>
          <p:cNvSpPr/>
          <p:nvPr/>
        </p:nvSpPr>
        <p:spPr>
          <a:xfrm>
            <a:off x="5760720" y="1599120"/>
            <a:ext cx="29235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17.1%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2"/>
          <p:cNvSpPr/>
          <p:nvPr/>
        </p:nvSpPr>
        <p:spPr>
          <a:xfrm>
            <a:off x="5760720" y="189180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RF RMSE vs Linear Regression RMSE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3"/>
          <p:cNvSpPr/>
          <p:nvPr/>
        </p:nvSpPr>
        <p:spPr>
          <a:xfrm>
            <a:off x="5577840" y="228492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3" name="Shape 14"/>
          <p:cNvSpPr/>
          <p:nvPr/>
        </p:nvSpPr>
        <p:spPr>
          <a:xfrm>
            <a:off x="5577840" y="2284920"/>
            <a:ext cx="52200" cy="82044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Text 15"/>
          <p:cNvSpPr/>
          <p:nvPr/>
        </p:nvSpPr>
        <p:spPr>
          <a:xfrm>
            <a:off x="5760720" y="237636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TUNING METHOD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5760720" y="2559240"/>
            <a:ext cx="29235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GridSearchCV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5760720" y="285192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GroupKFold (5-fold, engine-aware)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5577840" y="324504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5577840" y="3245040"/>
            <a:ext cx="52200" cy="82044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9" name="Text 20"/>
          <p:cNvSpPr/>
          <p:nvPr/>
        </p:nvSpPr>
        <p:spPr>
          <a:xfrm>
            <a:off x="5760720" y="333648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BEST HYPERPARAMETERS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1"/>
          <p:cNvSpPr/>
          <p:nvPr/>
        </p:nvSpPr>
        <p:spPr>
          <a:xfrm>
            <a:off x="5760720" y="3519360"/>
            <a:ext cx="2832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n_estimators=200, depth=10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2"/>
          <p:cNvSpPr/>
          <p:nvPr/>
        </p:nvSpPr>
        <p:spPr>
          <a:xfrm>
            <a:off x="5760720" y="3729600"/>
            <a:ext cx="283212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min_samples_leaf=5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3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4" name="TextBox 3"/>
          <p:cNvSpPr/>
          <p:nvPr/>
        </p:nvSpPr>
        <p:spPr>
          <a:xfrm>
            <a:off x="457200" y="200160"/>
            <a:ext cx="82270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Regression</a:t>
            </a: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 </a:t>
            </a: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Diagnostics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Picture 6" descr="Regression Diagnostics: Predicted vs Actual and Residuals.png"/>
          <p:cNvPicPr/>
          <p:nvPr/>
        </p:nvPicPr>
        <p:blipFill>
          <a:blip r:embed="rId1"/>
          <a:stretch/>
        </p:blipFill>
        <p:spPr>
          <a:xfrm>
            <a:off x="457200" y="1143000"/>
            <a:ext cx="8228160" cy="308016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186" name="TextBox 7"/>
          <p:cNvSpPr/>
          <p:nvPr/>
        </p:nvSpPr>
        <p:spPr>
          <a:xfrm>
            <a:off x="685800" y="4572000"/>
            <a:ext cx="79995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Left: LR (RMSE=21.0, underfitting)</a:t>
            </a: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Center: RF (RMSE=17.4)                  </a:t>
            </a: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	</a:t>
            </a: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Right: RF residuals centered at zero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9" name="Text 4"/>
          <p:cNvSpPr/>
          <p:nvPr/>
        </p:nvSpPr>
        <p:spPr>
          <a:xfrm>
            <a:off x="45828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Model 2 — Failure Alert Classification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457200" y="109728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Binary alert:  "Will this engine fail within 30 cycles?"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Table 0"/>
          <p:cNvGraphicFramePr/>
          <p:nvPr/>
        </p:nvGraphicFramePr>
        <p:xfrm>
          <a:off x="457200" y="1644840"/>
          <a:ext cx="4754520" cy="1526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</a:tblGrid>
              <a:tr h="301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METRIC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TEST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</a:tr>
              <a:tr h="301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F1 (Critical)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1" u="none" strike="noStrike">
                          <a:solidFill>
                            <a:srgbClr val="198754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Precision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Recall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0.86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0.64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3016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Accuracy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4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0.90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2" name="Shape 8"/>
          <p:cNvSpPr/>
          <p:nvPr/>
        </p:nvSpPr>
        <p:spPr>
          <a:xfrm>
            <a:off x="5577840" y="127908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Shape 9"/>
          <p:cNvSpPr/>
          <p:nvPr/>
        </p:nvSpPr>
        <p:spPr>
          <a:xfrm>
            <a:off x="5577840" y="1279080"/>
            <a:ext cx="52200" cy="82044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4" name="Text 10"/>
          <p:cNvSpPr/>
          <p:nvPr/>
        </p:nvSpPr>
        <p:spPr>
          <a:xfrm>
            <a:off x="5760720" y="137052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ALGORITHM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1"/>
          <p:cNvSpPr/>
          <p:nvPr/>
        </p:nvSpPr>
        <p:spPr>
          <a:xfrm>
            <a:off x="5760720" y="1553400"/>
            <a:ext cx="29235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KNN (K=19)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5760720" y="184608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Searched K=3  to 21 (odd), GroupKFold CV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5577840" y="2239200"/>
            <a:ext cx="3197880" cy="182628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5577840" y="2239200"/>
            <a:ext cx="52200" cy="182628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5760720" y="2312280"/>
            <a:ext cx="2832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Business Impact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5760720" y="2559240"/>
            <a:ext cx="2832120" cy="91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False negative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 = missed failure = </a:t>
            </a:r>
            <a:r>
              <a:rPr lang="en-US" sz="1100" b="1" u="none" strike="noStrike">
                <a:solidFill>
                  <a:srgbClr val="dc3545"/>
                </a:solidFill>
                <a:effectLst/>
                <a:uFillTx/>
                <a:latin typeface="Calibri"/>
                <a:ea typeface="Calibri"/>
              </a:rPr>
              <a:t>$50,000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False positive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 = extra inspection = </a:t>
            </a:r>
            <a:r>
              <a:rPr lang="en-US" sz="1100" b="1" u="none" strike="noStrike">
                <a:solidFill>
                  <a:srgbClr val="e67700"/>
                </a:solidFill>
                <a:effectLst/>
                <a:uFillTx/>
                <a:latin typeface="Calibri"/>
                <a:ea typeface="Calibri"/>
              </a:rPr>
              <a:t>$5,000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5760720" y="3427920"/>
            <a:ext cx="28321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With recall = 0.86, we catch </a:t>
            </a:r>
            <a:r>
              <a:rPr lang="en-US" sz="1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86%</a:t>
            </a:r>
            <a:r>
              <a:rPr lang="en-US" sz="10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 of impending failures on validation data. The alarm threshold analysis optimizes the remaining gap.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3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4" name="TextBox 3"/>
          <p:cNvSpPr/>
          <p:nvPr/>
        </p:nvSpPr>
        <p:spPr>
          <a:xfrm>
            <a:off x="457200" y="200160"/>
            <a:ext cx="82270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Classification Results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Picture 6" descr="Confusion Matrix and ROC Curve.png"/>
          <p:cNvPicPr/>
          <p:nvPr/>
        </p:nvPicPr>
        <p:blipFill>
          <a:blip r:embed="rId1"/>
          <a:stretch/>
        </p:blipFill>
        <p:spPr>
          <a:xfrm>
            <a:off x="685800" y="900000"/>
            <a:ext cx="7770960" cy="344196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206" name="TextBox 7"/>
          <p:cNvSpPr/>
          <p:nvPr/>
        </p:nvSpPr>
        <p:spPr>
          <a:xfrm>
            <a:off x="914400" y="4572000"/>
            <a:ext cx="73130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KNN Confusion Matrix: TN=3406, TP=536, FN=84, FP=44. ROC AUC=0.987.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8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457200" y="155520"/>
            <a:ext cx="836424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Which Sensors Matter Most?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6"/>
          <p:cNvSpPr/>
          <p:nvPr/>
        </p:nvSpPr>
        <p:spPr>
          <a:xfrm>
            <a:off x="6400800" y="480060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1" name="Text 7"/>
          <p:cNvSpPr/>
          <p:nvPr/>
        </p:nvSpPr>
        <p:spPr>
          <a:xfrm>
            <a:off x="457200" y="114300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Three independent methods → consensus ranking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0"/>
          <p:cNvGraphicFramePr/>
          <p:nvPr/>
        </p:nvGraphicFramePr>
        <p:xfrm>
          <a:off x="457200" y="1508760"/>
          <a:ext cx="4800240" cy="1450800"/>
        </p:xfrm>
        <a:graphic>
          <a:graphicData uri="http://schemas.openxmlformats.org/drawingml/2006/table">
            <a:tbl>
              <a:tblPr/>
              <a:tblGrid>
                <a:gridCol w="1883520"/>
                <a:gridCol w="2082600"/>
                <a:gridCol w="83448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METHOD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SOURCE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PCA Loadings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Variance structure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Week 8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RF Feature Importance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Mean impurity decrease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Extension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Permutation Importance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Validation R² impact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Extension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SHAP Values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Game-theoretic attribution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Extension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13" name="Shape 8"/>
          <p:cNvSpPr/>
          <p:nvPr/>
        </p:nvSpPr>
        <p:spPr>
          <a:xfrm>
            <a:off x="5577840" y="118872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5577840" y="1188720"/>
            <a:ext cx="52200" cy="82044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5760720" y="128016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SHAP TOP 3 SENSORS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5760720" y="1463040"/>
            <a:ext cx="29235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Sensors 4, 9, 11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5760720" y="175572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SHAP |25.51|, |11.75|, |9.92| — T24, T50, Ps30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5577840" y="2148840"/>
            <a:ext cx="3197880" cy="8204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5577840" y="2148840"/>
            <a:ext cx="52200" cy="82044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5760720" y="224028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DOMINANT FEATURE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5760720" y="2423160"/>
            <a:ext cx="29235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sensor_4_rmean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5760720" y="2715840"/>
            <a:ext cx="29235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Mean |SHAP| = 25.51 — 2× the runner-up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457200" y="3337560"/>
            <a:ext cx="8227080" cy="63756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457200" y="3337560"/>
            <a:ext cx="52200" cy="63756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640080" y="3383280"/>
            <a:ext cx="78613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Recommendation: </a:t>
            </a:r>
            <a:r>
              <a:rPr lang="en-US" sz="12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Prioritize monitoring of sensors 4, 9, and 11. Consider higher sampling rates and redundant instrumentation on these sensors.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457200" y="411480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Rolling mean features consistently ranked higher than raw values — validates our feature engineering.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8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9" name="TextBox 3"/>
          <p:cNvSpPr/>
          <p:nvPr/>
        </p:nvSpPr>
        <p:spPr>
          <a:xfrm>
            <a:off x="457200" y="200160"/>
            <a:ext cx="82270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Feature Importance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7316280" y="5257800"/>
            <a:ext cx="22834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231" name="Picture 6" descr="Random Forest and Permutation Importance.png"/>
          <p:cNvPicPr/>
          <p:nvPr/>
        </p:nvPicPr>
        <p:blipFill>
          <a:blip r:embed="rId1"/>
          <a:stretch/>
        </p:blipFill>
        <p:spPr>
          <a:xfrm>
            <a:off x="115560" y="1128600"/>
            <a:ext cx="4364280" cy="321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Box 7"/>
          <p:cNvSpPr/>
          <p:nvPr/>
        </p:nvSpPr>
        <p:spPr>
          <a:xfrm>
            <a:off x="228600" y="4572000"/>
            <a:ext cx="42512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PCA, RF, permutation importance: sensors 4, 7, 11 consistently ranked in 10.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3" name="Picture 8" descr="SHapley Additive exPlanations.png"/>
          <p:cNvPicPr/>
          <p:nvPr/>
        </p:nvPicPr>
        <p:blipFill>
          <a:blip r:embed="rId2"/>
          <a:stretch/>
        </p:blipFill>
        <p:spPr>
          <a:xfrm>
            <a:off x="4662000" y="1143000"/>
            <a:ext cx="4022640" cy="319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Box 9"/>
          <p:cNvSpPr/>
          <p:nvPr/>
        </p:nvSpPr>
        <p:spPr>
          <a:xfrm>
            <a:off x="4662720" y="4572000"/>
            <a:ext cx="44798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SHAP: sensor_4_rmean dominates (|SHAP|=25.51). Rolling means outperform raw.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45720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Cost-Optimized Alarm Threshold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7"/>
          <p:cNvSpPr/>
          <p:nvPr/>
        </p:nvSpPr>
        <p:spPr>
          <a:xfrm>
            <a:off x="457200" y="1005840"/>
            <a:ext cx="8227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When should we trigger a maintenance alert?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8"/>
          <p:cNvSpPr/>
          <p:nvPr/>
        </p:nvSpPr>
        <p:spPr>
          <a:xfrm>
            <a:off x="457200" y="1417320"/>
            <a:ext cx="411228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1" name="Shape 9"/>
          <p:cNvSpPr/>
          <p:nvPr/>
        </p:nvSpPr>
        <p:spPr>
          <a:xfrm>
            <a:off x="457200" y="1417320"/>
            <a:ext cx="52200" cy="77472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Text 10"/>
          <p:cNvSpPr/>
          <p:nvPr/>
        </p:nvSpPr>
        <p:spPr>
          <a:xfrm>
            <a:off x="640080" y="1508760"/>
            <a:ext cx="3837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OPTIMAL ALARM THRESHOLD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1"/>
          <p:cNvSpPr/>
          <p:nvPr/>
        </p:nvSpPr>
        <p:spPr>
          <a:xfrm>
            <a:off x="640080" y="1691640"/>
            <a:ext cx="38379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10 cycles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12"/>
          <p:cNvSpPr/>
          <p:nvPr/>
        </p:nvSpPr>
        <p:spPr>
          <a:xfrm>
            <a:off x="640080" y="1984320"/>
            <a:ext cx="3837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Minimizes total cost given 10:1 asymmetry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3"/>
          <p:cNvSpPr/>
          <p:nvPr/>
        </p:nvSpPr>
        <p:spPr>
          <a:xfrm>
            <a:off x="457200" y="2331720"/>
            <a:ext cx="411228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6" name="Shape 14"/>
          <p:cNvSpPr/>
          <p:nvPr/>
        </p:nvSpPr>
        <p:spPr>
          <a:xfrm>
            <a:off x="457200" y="2331720"/>
            <a:ext cx="52200" cy="77472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7" name="Text 15"/>
          <p:cNvSpPr/>
          <p:nvPr/>
        </p:nvSpPr>
        <p:spPr>
          <a:xfrm>
            <a:off x="640080" y="2423160"/>
            <a:ext cx="3837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ANNUAL SAVINGS (100-ENGINE FLEET)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6"/>
          <p:cNvSpPr/>
          <p:nvPr/>
        </p:nvSpPr>
        <p:spPr>
          <a:xfrm>
            <a:off x="640080" y="2606040"/>
            <a:ext cx="38379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$361,500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7"/>
          <p:cNvSpPr/>
          <p:nvPr/>
        </p:nvSpPr>
        <p:spPr>
          <a:xfrm>
            <a:off x="640080" y="2898720"/>
            <a:ext cx="3837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72.3% reduction vs scheduled maintenance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8"/>
          <p:cNvSpPr/>
          <p:nvPr/>
        </p:nvSpPr>
        <p:spPr>
          <a:xfrm>
            <a:off x="457200" y="3246120"/>
            <a:ext cx="411228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1" name="Shape 19"/>
          <p:cNvSpPr/>
          <p:nvPr/>
        </p:nvSpPr>
        <p:spPr>
          <a:xfrm>
            <a:off x="457200" y="3246120"/>
            <a:ext cx="52200" cy="77472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2" name="Text 20"/>
          <p:cNvSpPr/>
          <p:nvPr/>
        </p:nvSpPr>
        <p:spPr>
          <a:xfrm>
            <a:off x="640080" y="3337560"/>
            <a:ext cx="3837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00" b="1" u="none" spc="150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95% CONFIDENCE INTERVAL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640080" y="3520440"/>
            <a:ext cx="38379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$25K — $310K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2"/>
          <p:cNvSpPr/>
          <p:nvPr/>
        </p:nvSpPr>
        <p:spPr>
          <a:xfrm>
            <a:off x="640080" y="3813120"/>
            <a:ext cx="383796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Monte Carlo simulation, 1,000 iterations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5029200" y="1371600"/>
            <a:ext cx="365508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Monte Carlo Results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6" name="Table 0"/>
          <p:cNvGraphicFramePr/>
          <p:nvPr/>
        </p:nvGraphicFramePr>
        <p:xfrm>
          <a:off x="5029200" y="1691640"/>
          <a:ext cx="3657240" cy="14508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METRIC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VALUE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solidFill>
                      <a:srgbClr val="4361ee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Mean annual cost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$138,500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Median annual cost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$130,000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Scheduled baseline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$500,000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Simulations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212529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1,000 iterations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ee2e6"/>
                      </a:solidFill>
                      <a:prstDash val="solid"/>
                    </a:lnL>
                    <a:lnR w="6480">
                      <a:solidFill>
                        <a:srgbClr val="dee2e6"/>
                      </a:solidFill>
                      <a:prstDash val="solid"/>
                    </a:lnR>
                    <a:lnT w="6480">
                      <a:solidFill>
                        <a:srgbClr val="dee2e6"/>
                      </a:solidFill>
                      <a:prstDash val="solid"/>
                    </a:lnT>
                    <a:lnB w="6480">
                      <a:solidFill>
                        <a:srgbClr val="dee2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7" name="Shape 24"/>
          <p:cNvSpPr/>
          <p:nvPr/>
        </p:nvSpPr>
        <p:spPr>
          <a:xfrm>
            <a:off x="5029200" y="3200400"/>
            <a:ext cx="3655080" cy="77472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8" name="Shape 25"/>
          <p:cNvSpPr/>
          <p:nvPr/>
        </p:nvSpPr>
        <p:spPr>
          <a:xfrm>
            <a:off x="5029200" y="3200400"/>
            <a:ext cx="52200" cy="774720"/>
          </a:xfrm>
          <a:prstGeom prst="rect">
            <a:avLst/>
          </a:prstGeom>
          <a:solidFill>
            <a:srgbClr val="1987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9" name="Text 26"/>
          <p:cNvSpPr/>
          <p:nvPr/>
        </p:nvSpPr>
        <p:spPr>
          <a:xfrm>
            <a:off x="5212080" y="3246120"/>
            <a:ext cx="3289320" cy="6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Even in the </a:t>
            </a:r>
            <a:r>
              <a:rPr lang="en-US" sz="11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worst-case scenario</a:t>
            </a:r>
            <a:r>
              <a:rPr lang="en-US" sz="11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 ($310K), predictive maintenance still saves </a:t>
            </a:r>
            <a:r>
              <a:rPr lang="en-US" sz="1100" b="1" u="none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38%</a:t>
            </a:r>
            <a:r>
              <a:rPr lang="en-US" sz="11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 vs the $500K scheduled baseline.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1"/>
          <p:cNvSpPr/>
          <p:nvPr/>
        </p:nvSpPr>
        <p:spPr>
          <a:xfrm>
            <a:off x="0" y="0"/>
            <a:ext cx="9141840" cy="77472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1" name="Rectangle 2"/>
          <p:cNvSpPr/>
          <p:nvPr/>
        </p:nvSpPr>
        <p:spPr>
          <a:xfrm>
            <a:off x="0" y="777240"/>
            <a:ext cx="9141840" cy="34200"/>
          </a:xfrm>
          <a:prstGeom prst="rect">
            <a:avLst/>
          </a:prstGeom>
          <a:solidFill>
            <a:srgbClr val="509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8640" bIns="-8640" anchor="ctr">
            <a:noAutofit/>
          </a:bodyPr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2" name="TextBox 3"/>
          <p:cNvSpPr/>
          <p:nvPr/>
        </p:nvSpPr>
        <p:spPr>
          <a:xfrm>
            <a:off x="457200" y="200160"/>
            <a:ext cx="82270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Arial"/>
                <a:ea typeface="DejaVu Sans"/>
              </a:rPr>
              <a:t>Cost Analysis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3" name="Picture 6" descr="Alarm Threshold Optimization: Cost vs Threshold.png"/>
          <p:cNvPicPr/>
          <p:nvPr/>
        </p:nvPicPr>
        <p:blipFill>
          <a:blip r:embed="rId1"/>
          <a:stretch/>
        </p:blipFill>
        <p:spPr>
          <a:xfrm>
            <a:off x="228600" y="1128600"/>
            <a:ext cx="4022640" cy="321336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264" name="TextBox 7"/>
          <p:cNvSpPr/>
          <p:nvPr/>
        </p:nvSpPr>
        <p:spPr>
          <a:xfrm>
            <a:off x="319320" y="4629960"/>
            <a:ext cx="4022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Total fleet cost vs threshold. Optimal at T=10 cycles.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8" descr="Monte Carlo Cost Simulation.png"/>
          <p:cNvPicPr/>
          <p:nvPr/>
        </p:nvPicPr>
        <p:blipFill>
          <a:blip r:embed="rId2"/>
          <a:stretch/>
        </p:blipFill>
        <p:spPr>
          <a:xfrm>
            <a:off x="4343400" y="1128600"/>
            <a:ext cx="4341960" cy="3213360"/>
          </a:xfrm>
          <a:prstGeom prst="rect">
            <a:avLst/>
          </a:prstGeom>
          <a:noFill/>
          <a:ln w="12600">
            <a:solidFill>
              <a:srgbClr val="50938a"/>
            </a:solidFill>
            <a:round/>
          </a:ln>
        </p:spPr>
      </p:pic>
      <p:sp>
        <p:nvSpPr>
          <p:cNvPr id="266" name="TextBox 9"/>
          <p:cNvSpPr/>
          <p:nvPr/>
        </p:nvSpPr>
        <p:spPr>
          <a:xfrm>
            <a:off x="4572000" y="4629960"/>
            <a:ext cx="4022640" cy="39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en-US" sz="900" b="0" u="none" strike="noStrike">
                <a:solidFill>
                  <a:srgbClr val="6c757d"/>
                </a:solidFill>
                <a:effectLst/>
                <a:uFillTx/>
                <a:latin typeface="Arial"/>
                <a:ea typeface="DejaVu Sans"/>
              </a:rPr>
              <a:t>1000-iteration MC: mean $138K, 95th pct $275K. 72% savings vs baseline.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1480" cy="77472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0" y="777240"/>
            <a:ext cx="9141480" cy="342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457200" y="155520"/>
            <a:ext cx="4546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457200" y="155520"/>
            <a:ext cx="776988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Recommendations for Plant Management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7"/>
          <p:cNvSpPr/>
          <p:nvPr/>
        </p:nvSpPr>
        <p:spPr>
          <a:xfrm>
            <a:off x="457200" y="1051560"/>
            <a:ext cx="43200" cy="50040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2" name="Text 8"/>
          <p:cNvSpPr/>
          <p:nvPr/>
        </p:nvSpPr>
        <p:spPr>
          <a:xfrm>
            <a:off x="640080" y="106992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Deploy the predictive 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9"/>
          <p:cNvSpPr/>
          <p:nvPr/>
        </p:nvSpPr>
        <p:spPr>
          <a:xfrm>
            <a:off x="640080" y="1307520"/>
            <a:ext cx="4386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for real-time fleet monitoring — RF for continuous RUL, KNN for binary alerts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0"/>
          <p:cNvSpPr/>
          <p:nvPr/>
        </p:nvSpPr>
        <p:spPr>
          <a:xfrm>
            <a:off x="457200" y="1664280"/>
            <a:ext cx="43200" cy="50040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5" name="Text 11"/>
          <p:cNvSpPr/>
          <p:nvPr/>
        </p:nvSpPr>
        <p:spPr>
          <a:xfrm>
            <a:off x="640080" y="168264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Set alarm threshold at 10 cycles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2"/>
          <p:cNvSpPr/>
          <p:nvPr/>
        </p:nvSpPr>
        <p:spPr>
          <a:xfrm>
            <a:off x="640080" y="1920240"/>
            <a:ext cx="4386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— optimal under 10:1 cost asymmetry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13"/>
          <p:cNvSpPr/>
          <p:nvPr/>
        </p:nvSpPr>
        <p:spPr>
          <a:xfrm>
            <a:off x="457200" y="2277000"/>
            <a:ext cx="43200" cy="50040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8" name="Text 14"/>
          <p:cNvSpPr/>
          <p:nvPr/>
        </p:nvSpPr>
        <p:spPr>
          <a:xfrm>
            <a:off x="640080" y="229500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Prioritize sensors 4, 9, 11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5"/>
          <p:cNvSpPr/>
          <p:nvPr/>
        </p:nvSpPr>
        <p:spPr>
          <a:xfrm>
            <a:off x="640080" y="2532960"/>
            <a:ext cx="4386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— consensus top features across all importance methods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6"/>
          <p:cNvSpPr/>
          <p:nvPr/>
        </p:nvSpPr>
        <p:spPr>
          <a:xfrm>
            <a:off x="457200" y="2889360"/>
            <a:ext cx="43200" cy="500400"/>
          </a:xfrm>
          <a:prstGeom prst="rect">
            <a:avLst/>
          </a:prstGeom>
          <a:solidFill>
            <a:srgbClr val="e677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1" name="Text 17"/>
          <p:cNvSpPr/>
          <p:nvPr/>
        </p:nvSpPr>
        <p:spPr>
          <a:xfrm>
            <a:off x="640080" y="2907720"/>
            <a:ext cx="438660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Expected ROI: 72% cost reduction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8"/>
          <p:cNvSpPr/>
          <p:nvPr/>
        </p:nvSpPr>
        <p:spPr>
          <a:xfrm>
            <a:off x="640080" y="3145680"/>
            <a:ext cx="43866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— $361,500/year savings for 100-engine fleet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9"/>
          <p:cNvSpPr/>
          <p:nvPr/>
        </p:nvSpPr>
        <p:spPr>
          <a:xfrm>
            <a:off x="4908600" y="1005840"/>
            <a:ext cx="3975120" cy="255780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Shape 20"/>
          <p:cNvSpPr/>
          <p:nvPr/>
        </p:nvSpPr>
        <p:spPr>
          <a:xfrm flipH="1">
            <a:off x="4906800" y="1005840"/>
            <a:ext cx="227520" cy="2557800"/>
          </a:xfrm>
          <a:prstGeom prst="rect">
            <a:avLst/>
          </a:prstGeom>
          <a:solidFill>
            <a:srgbClr val="4361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Text 21"/>
          <p:cNvSpPr/>
          <p:nvPr/>
        </p:nvSpPr>
        <p:spPr>
          <a:xfrm>
            <a:off x="5293800" y="1143000"/>
            <a:ext cx="29235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Limitations &amp; Next Steps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2"/>
          <p:cNvSpPr/>
          <p:nvPr/>
        </p:nvSpPr>
        <p:spPr>
          <a:xfrm>
            <a:off x="5329800" y="1417320"/>
            <a:ext cx="3335040" cy="17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Simulated data — validate on real operational data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Single operating condition — extend to FD002-FD004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212529"/>
                </a:solidFill>
                <a:effectLst/>
                <a:uFillTx/>
                <a:latin typeface="Calibri"/>
                <a:ea typeface="Calibri"/>
              </a:rPr>
              <a:t>Build real-time dashboard (Streamlit / FastAPI)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3"/>
          <p:cNvSpPr/>
          <p:nvPr/>
        </p:nvSpPr>
        <p:spPr>
          <a:xfrm>
            <a:off x="457200" y="3794760"/>
            <a:ext cx="2466360" cy="5918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8" name="Text 24"/>
          <p:cNvSpPr/>
          <p:nvPr/>
        </p:nvSpPr>
        <p:spPr>
          <a:xfrm>
            <a:off x="457200" y="3840480"/>
            <a:ext cx="2466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99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RF TEST RMSE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5"/>
          <p:cNvSpPr/>
          <p:nvPr/>
        </p:nvSpPr>
        <p:spPr>
          <a:xfrm>
            <a:off x="457200" y="4023360"/>
            <a:ext cx="24663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4361ee"/>
                </a:solidFill>
                <a:effectLst/>
                <a:uFillTx/>
                <a:latin typeface="Calibri"/>
                <a:ea typeface="Calibri"/>
              </a:rPr>
              <a:t>18.72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6"/>
          <p:cNvSpPr/>
          <p:nvPr/>
        </p:nvSpPr>
        <p:spPr>
          <a:xfrm>
            <a:off x="3200400" y="3794760"/>
            <a:ext cx="2466360" cy="5918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1" name="Text 27"/>
          <p:cNvSpPr/>
          <p:nvPr/>
        </p:nvSpPr>
        <p:spPr>
          <a:xfrm>
            <a:off x="3200400" y="3840480"/>
            <a:ext cx="2466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99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KNN VAL F1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8"/>
          <p:cNvSpPr/>
          <p:nvPr/>
        </p:nvSpPr>
        <p:spPr>
          <a:xfrm>
            <a:off x="3200400" y="4023360"/>
            <a:ext cx="24663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198754"/>
                </a:solidFill>
                <a:effectLst/>
                <a:uFillTx/>
                <a:latin typeface="Calibri"/>
                <a:ea typeface="Calibri"/>
              </a:rPr>
              <a:t>0.89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9"/>
          <p:cNvSpPr/>
          <p:nvPr/>
        </p:nvSpPr>
        <p:spPr>
          <a:xfrm>
            <a:off x="5943600" y="3794760"/>
            <a:ext cx="2466360" cy="591840"/>
          </a:xfrm>
          <a:prstGeom prst="rect">
            <a:avLst/>
          </a:prstGeom>
          <a:solidFill>
            <a:srgbClr val="f8f9fa"/>
          </a:solidFill>
          <a:ln w="6480">
            <a:solidFill>
              <a:srgbClr val="dee2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4" name="Text 30"/>
          <p:cNvSpPr/>
          <p:nvPr/>
        </p:nvSpPr>
        <p:spPr>
          <a:xfrm>
            <a:off x="5943600" y="3840480"/>
            <a:ext cx="246636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99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ANNUAL SAVINGS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1"/>
          <p:cNvSpPr/>
          <p:nvPr/>
        </p:nvSpPr>
        <p:spPr>
          <a:xfrm>
            <a:off x="5943600" y="4023360"/>
            <a:ext cx="246636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e67700"/>
                </a:solidFill>
                <a:effectLst/>
                <a:uFillTx/>
                <a:latin typeface="Calibri"/>
                <a:ea typeface="Calibri"/>
              </a:rPr>
              <a:t>$361.5K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406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2026-03-27T04:00:00Z</dcterms:created>
  <dc:creator>Jongmin Lee &amp; Aedrian Formento</dc:creator>
  <dc:description/>
  <dc:language>en-US</dc:language>
  <cp:lastModifiedBy/>
  <dcterms:modified xsi:type="dcterms:W3CDTF">2026-03-31T22:05:16Z</dcterms:modified>
  <cp:revision>11</cp:revision>
  <dc:subject>STAT 1100 Group Project Presentation</dc:subject>
  <dc:title>Predictive Maintenance for Industrial Equipment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12</vt:r8>
  </property>
  <property fmtid="{D5CDD505-2E9C-101B-9397-08002B2CF9AE}" pid="3" name="PresentationFormat">
    <vt:lpwstr>On-screen Show (16:9)</vt:lpwstr>
  </property>
  <property fmtid="{D5CDD505-2E9C-101B-9397-08002B2CF9AE}" pid="4" name="Slides">
    <vt:r8>12</vt:r8>
  </property>
</Properties>
</file>